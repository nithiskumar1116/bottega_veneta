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B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28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6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1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3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10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8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1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332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97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15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288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4989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634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51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17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58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4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E34150A-36BC-498F-8D2C-40F671F1925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611F8-D80A-42EA-AC48-29D7C4570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678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EC20-E36B-918B-84AE-ABFC4BA09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53225"/>
            <a:ext cx="9144000" cy="1002737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B8B197"/>
                </a:solidFill>
                <a:latin typeface="Calisto MT" panose="02040603050505030304" pitchFamily="18" charset="0"/>
              </a:rPr>
              <a:t>BOTTEGA VENETA</a:t>
            </a:r>
            <a:endParaRPr lang="en-IN" dirty="0">
              <a:solidFill>
                <a:srgbClr val="B8B197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ED27B-774E-8BDF-1B66-A5941EB30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490" y="3139922"/>
            <a:ext cx="9144000" cy="389859"/>
          </a:xfrm>
        </p:spPr>
        <p:txBody>
          <a:bodyPr>
            <a:no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DATA MINING</a:t>
            </a:r>
            <a:endParaRPr lang="en-IN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158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3BEE4-6EAA-4212-F174-BC7BE5FFC0ED}"/>
              </a:ext>
            </a:extLst>
          </p:cNvPr>
          <p:cNvSpPr txBox="1"/>
          <p:nvPr/>
        </p:nvSpPr>
        <p:spPr>
          <a:xfrm>
            <a:off x="865238" y="920621"/>
            <a:ext cx="10461523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</a:rPr>
              <a:t>Business Performance Story – BOTTEGA VENETA</a:t>
            </a:r>
          </a:p>
          <a:p>
            <a:pPr>
              <a:buNone/>
            </a:pPr>
            <a:r>
              <a:rPr lang="en-US" sz="2000" dirty="0"/>
              <a:t>This dashboard provides a </a:t>
            </a:r>
            <a:r>
              <a:rPr lang="en-US" sz="2000" b="1" dirty="0"/>
              <a:t>comprehensive Mining of sales and profitability performance</a:t>
            </a:r>
            <a:r>
              <a:rPr lang="en-US" sz="2000" dirty="0"/>
              <a:t> across multiple dimensions: quantity, sales, profit, region, state, and category.</a:t>
            </a:r>
          </a:p>
          <a:p>
            <a:pPr>
              <a:buNone/>
            </a:pPr>
            <a:endParaRPr lang="en-US" sz="2000" dirty="0"/>
          </a:p>
          <a:p>
            <a:r>
              <a:rPr lang="en-US" sz="2400" b="1" dirty="0">
                <a:solidFill>
                  <a:schemeClr val="tx2"/>
                </a:solidFill>
              </a:rPr>
              <a:t>Overall Performance</a:t>
            </a:r>
            <a:endParaRPr lang="en-US" sz="2400" dirty="0">
              <a:solidFill>
                <a:schemeClr val="tx2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company achieved a </a:t>
            </a:r>
            <a:r>
              <a:rPr lang="en-US" sz="2000" b="1" dirty="0"/>
              <a:t>total sales revenue of 678.78K</a:t>
            </a:r>
            <a:r>
              <a:rPr lang="en-US" sz="2000" dirty="0"/>
              <a:t> with </a:t>
            </a:r>
            <a:r>
              <a:rPr lang="en-US" sz="2000" b="1" dirty="0"/>
              <a:t>11K units sold</a:t>
            </a:r>
            <a:r>
              <a:rPr lang="en-US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This generated a </a:t>
            </a:r>
            <a:r>
              <a:rPr lang="en-US" sz="2000" b="1" dirty="0"/>
              <a:t>total profit of 91.52K</a:t>
            </a:r>
            <a:r>
              <a:rPr lang="en-US" sz="2000" dirty="0"/>
              <a:t>, indicating a healthy but improvable profit margin.</a:t>
            </a:r>
          </a:p>
          <a:p>
            <a:pPr lvl="1"/>
            <a:endParaRPr lang="en-US" sz="2000" dirty="0"/>
          </a:p>
          <a:p>
            <a:r>
              <a:rPr lang="en-US" sz="2400" b="1" dirty="0">
                <a:solidFill>
                  <a:schemeClr val="tx2"/>
                </a:solidFill>
              </a:rPr>
              <a:t>Sales Trend Over Time</a:t>
            </a:r>
            <a:endParaRPr lang="en-US" sz="2400" dirty="0">
              <a:solidFill>
                <a:schemeClr val="tx2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Sales by Order Date chart</a:t>
            </a:r>
            <a:r>
              <a:rPr lang="en-US" sz="2000" dirty="0"/>
              <a:t> shows that sales peaked significantly at the beginning of the timeline, crossing </a:t>
            </a:r>
            <a:r>
              <a:rPr lang="en-US" sz="2000" b="1" dirty="0"/>
              <a:t>20K</a:t>
            </a:r>
            <a:r>
              <a:rPr lang="en-US" sz="2000" dirty="0"/>
              <a:t>, before stabilizing at a lower but consistent range.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This suggests an initial demand surge, possibly due to promotions, product launches, or seasonal demand.</a:t>
            </a:r>
          </a:p>
        </p:txBody>
      </p:sp>
    </p:spTree>
    <p:extLst>
      <p:ext uri="{BB962C8B-B14F-4D97-AF65-F5344CB8AC3E}">
        <p14:creationId xmlns:p14="http://schemas.microsoft.com/office/powerpoint/2010/main" val="153160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3D0C6-2A38-BB26-9FB3-9EE2E16B0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808" y="708418"/>
            <a:ext cx="1047038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Profitability by Region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fairly distributed among the West, East, South, and Central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East and South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appear to contribute more prominently to profit compared to the West and Central.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indicates potential opportunities to strengthen operations and sales strategies in underperforming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Profitability by State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York leads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contribution of ~0.07M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states like Ohio, however, are showing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contribution (-0.02M)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pulling down overall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signals the need for corrective actions in loss-making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Category Insights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distribution by 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contributes the most, followed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 Supplies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 seems to lag behind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suggests focusing on technology-driven products to maximize profit while reassessing strategies for furniture.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0753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264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Calisto MT</vt:lpstr>
      <vt:lpstr>Century Gothic</vt:lpstr>
      <vt:lpstr>Wingdings 3</vt:lpstr>
      <vt:lpstr>Ion</vt:lpstr>
      <vt:lpstr>BOTTEGA VENETA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DHAYA NIDHI</dc:creator>
  <cp:lastModifiedBy>DHAYA NIDHI</cp:lastModifiedBy>
  <cp:revision>1</cp:revision>
  <dcterms:created xsi:type="dcterms:W3CDTF">2025-09-23T09:43:37Z</dcterms:created>
  <dcterms:modified xsi:type="dcterms:W3CDTF">2025-09-23T09:50:33Z</dcterms:modified>
</cp:coreProperties>
</file>